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6" r:id="rId10"/>
    <p:sldId id="263" r:id="rId11"/>
    <p:sldId id="26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89" d="100"/>
          <a:sy n="89" d="100"/>
        </p:scale>
        <p:origin x="-403" y="-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student-portfolio-builder-psi.vercel.app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KyathiLahari/student-portfolio-builde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gradi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10789920" y="411480"/>
            <a:ext cx="502920" cy="502920"/>
          </a:xfrm>
          <a:prstGeom prst="ellipse">
            <a:avLst/>
          </a:prstGeom>
          <a:solidFill>
            <a:srgbClr val="44D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38560" y="5760720"/>
            <a:ext cx="201168" cy="201168"/>
          </a:xfrm>
          <a:prstGeom prst="ellipse">
            <a:avLst/>
          </a:prstGeom>
          <a:solidFill>
            <a:srgbClr val="FF7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320040" y="6080760"/>
            <a:ext cx="164592" cy="164592"/>
          </a:xfrm>
          <a:prstGeom prst="ellipse">
            <a:avLst/>
          </a:prstGeom>
          <a:solidFill>
            <a:srgbClr val="5C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621792"/>
            <a:ext cx="1417320" cy="329184"/>
          </a:xfrm>
          <a:prstGeom prst="roundRect">
            <a:avLst/>
          </a:prstGeom>
          <a:solidFill>
            <a:srgbClr val="494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635508"/>
            <a:ext cx="1417320" cy="265176"/>
          </a:xfrm>
          <a:prstGeom prst="rect">
            <a:avLst/>
          </a:prstGeom>
          <a:noFill/>
        </p:spPr>
        <p:txBody>
          <a:bodyPr wrap="square" lIns="9144" tIns="18288" rIns="9144" bIns="18288">
            <a:spAutoFit/>
          </a:bodyPr>
          <a:lstStyle/>
          <a:p>
            <a:pPr algn="ctr">
              <a:defRPr sz="1000" b="1">
                <a:solidFill>
                  <a:srgbClr val="F8F9FF"/>
                </a:solidFill>
                <a:latin typeface="Aptos"/>
              </a:defRPr>
            </a:pPr>
            <a:r>
              <a:t>FSD MINI-PROJECT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17320"/>
            <a:ext cx="6949440" cy="1417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3600" b="1">
                <a:solidFill>
                  <a:srgbClr val="F8F9FF"/>
                </a:solidFill>
                <a:latin typeface="Aptos"/>
              </a:defRPr>
            </a:pPr>
            <a:r>
              <a:t>Student Portfolio</a:t>
            </a:r>
            <a:br/>
            <a:r>
              <a:t>Builder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3090672"/>
            <a:ext cx="5852160" cy="731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900" b="1">
                <a:solidFill>
                  <a:srgbClr val="44D5EB"/>
                </a:solidFill>
                <a:latin typeface="Aptos"/>
              </a:defRPr>
            </a:pPr>
            <a:r>
              <a:t>Create. Organize. Showcase.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3703320"/>
            <a:ext cx="5486400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500" b="0">
                <a:solidFill>
                  <a:srgbClr val="CFD5F4"/>
                </a:solidFill>
                <a:latin typeface="Aptos"/>
              </a:defRPr>
            </a:pPr>
            <a:r>
              <a:t>A web application for creating and managing student portfolios.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4709160"/>
            <a:ext cx="1325880" cy="329184"/>
          </a:xfrm>
          <a:prstGeom prst="roundRect">
            <a:avLst/>
          </a:prstGeom>
          <a:solidFill>
            <a:srgbClr val="3C3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232" y="4722876"/>
            <a:ext cx="1325880" cy="265176"/>
          </a:xfrm>
          <a:prstGeom prst="rect">
            <a:avLst/>
          </a:prstGeom>
          <a:noFill/>
        </p:spPr>
        <p:txBody>
          <a:bodyPr wrap="square" lIns="9144" tIns="18288" rIns="9144" bIns="18288">
            <a:spAutoFit/>
          </a:bodyPr>
          <a:lstStyle/>
          <a:p>
            <a:pPr algn="ctr">
              <a:defRPr sz="1000" b="1">
                <a:solidFill>
                  <a:srgbClr val="F8F9FF"/>
                </a:solidFill>
                <a:latin typeface="Aptos"/>
              </a:defRPr>
            </a:pPr>
            <a:r>
              <a:t>React.js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94560" y="4709160"/>
            <a:ext cx="1325880" cy="329184"/>
          </a:xfrm>
          <a:prstGeom prst="roundRect">
            <a:avLst/>
          </a:prstGeom>
          <a:solidFill>
            <a:srgbClr val="3C3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194560" y="4722876"/>
            <a:ext cx="1325880" cy="265176"/>
          </a:xfrm>
          <a:prstGeom prst="rect">
            <a:avLst/>
          </a:prstGeom>
          <a:noFill/>
        </p:spPr>
        <p:txBody>
          <a:bodyPr wrap="square" lIns="9144" tIns="18288" rIns="9144" bIns="18288">
            <a:spAutoFit/>
          </a:bodyPr>
          <a:lstStyle/>
          <a:p>
            <a:pPr algn="ctr">
              <a:defRPr sz="1000" b="1">
                <a:solidFill>
                  <a:srgbClr val="F8F9FF"/>
                </a:solidFill>
                <a:latin typeface="Aptos"/>
              </a:defRPr>
            </a:pPr>
            <a:r>
              <a:t>Express.js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75888" y="4709160"/>
            <a:ext cx="1325880" cy="329184"/>
          </a:xfrm>
          <a:prstGeom prst="roundRect">
            <a:avLst/>
          </a:prstGeom>
          <a:solidFill>
            <a:srgbClr val="3C3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75888" y="4722876"/>
            <a:ext cx="1325880" cy="265176"/>
          </a:xfrm>
          <a:prstGeom prst="rect">
            <a:avLst/>
          </a:prstGeom>
          <a:noFill/>
        </p:spPr>
        <p:txBody>
          <a:bodyPr wrap="square" lIns="9144" tIns="18288" rIns="9144" bIns="18288">
            <a:spAutoFit/>
          </a:bodyPr>
          <a:lstStyle/>
          <a:p>
            <a:pPr algn="ctr">
              <a:defRPr sz="1000" b="1">
                <a:solidFill>
                  <a:srgbClr val="F8F9FF"/>
                </a:solidFill>
                <a:latin typeface="Aptos"/>
              </a:defRPr>
            </a:pPr>
            <a:r>
              <a:t>MongoDB Atlas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43800" y="1097280"/>
            <a:ext cx="3794760" cy="4480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818120" y="1389888"/>
            <a:ext cx="3246120" cy="731520"/>
          </a:xfrm>
          <a:prstGeom prst="roundRect">
            <a:avLst/>
          </a:prstGeom>
          <a:solidFill>
            <a:srgbClr val="ED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046720" y="1554480"/>
            <a:ext cx="384048" cy="384048"/>
          </a:xfrm>
          <a:prstGeom prst="ellipse">
            <a:avLst/>
          </a:prstGeom>
          <a:solidFill>
            <a:srgbClr val="6F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77072" y="1508760"/>
            <a:ext cx="2194560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900" b="1">
                <a:solidFill>
                  <a:srgbClr val="6F52FF"/>
                </a:solidFill>
                <a:latin typeface="Aptos"/>
              </a:defRPr>
            </a:pPr>
            <a:r>
              <a:t>STUDENT PROFILE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77072" y="1746504"/>
            <a:ext cx="219456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400" b="1">
                <a:solidFill>
                  <a:srgbClr val="1D1F43"/>
                </a:solidFill>
                <a:latin typeface="Aptos"/>
              </a:defRPr>
            </a:pPr>
            <a:r>
              <a:t>Your Name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82127" y="2468880"/>
            <a:ext cx="292608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800" b="1">
                <a:solidFill>
                  <a:srgbClr val="1D1F43"/>
                </a:solidFill>
                <a:latin typeface="Aptos"/>
              </a:defRPr>
            </a:pPr>
            <a:r>
              <a:t>Build your story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82127" y="2834640"/>
            <a:ext cx="283464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100" b="0">
                <a:solidFill>
                  <a:srgbClr val="5B5F83"/>
                </a:solidFill>
                <a:latin typeface="Aptos"/>
              </a:defRPr>
            </a:pPr>
            <a:r>
              <a:t>Skills, projects, education</a:t>
            </a:r>
            <a:br/>
            <a:r>
              <a:t>and achievements — in one place.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82127" y="3611880"/>
            <a:ext cx="2834640" cy="320040"/>
          </a:xfrm>
          <a:prstGeom prst="roundRect">
            <a:avLst/>
          </a:prstGeom>
          <a:solidFill>
            <a:srgbClr val="F1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882127" y="3611880"/>
            <a:ext cx="82296" cy="320040"/>
          </a:xfrm>
          <a:prstGeom prst="rect">
            <a:avLst/>
          </a:prstGeom>
          <a:solidFill>
            <a:srgbClr val="44D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92440" y="3648456"/>
            <a:ext cx="22860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000" b="1">
                <a:solidFill>
                  <a:srgbClr val="1D1F43"/>
                </a:solidFill>
                <a:latin typeface="Aptos"/>
              </a:defRPr>
            </a:pPr>
            <a:r>
              <a:t>Skills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82127" y="4087368"/>
            <a:ext cx="2834640" cy="320040"/>
          </a:xfrm>
          <a:prstGeom prst="roundRect">
            <a:avLst/>
          </a:prstGeom>
          <a:solidFill>
            <a:srgbClr val="F1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882127" y="4087368"/>
            <a:ext cx="82296" cy="320040"/>
          </a:xfrm>
          <a:prstGeom prst="rect">
            <a:avLst/>
          </a:prstGeom>
          <a:solidFill>
            <a:srgbClr val="FF7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092440" y="4123944"/>
            <a:ext cx="22860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000" b="1">
                <a:solidFill>
                  <a:srgbClr val="1D1F43"/>
                </a:solidFill>
                <a:latin typeface="Aptos"/>
              </a:defRPr>
            </a:pPr>
            <a:r>
              <a:t>Projects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82127" y="4562856"/>
            <a:ext cx="2834640" cy="320040"/>
          </a:xfrm>
          <a:prstGeom prst="roundRect">
            <a:avLst/>
          </a:prstGeom>
          <a:solidFill>
            <a:srgbClr val="F1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882127" y="4562856"/>
            <a:ext cx="82296" cy="320040"/>
          </a:xfrm>
          <a:prstGeom prst="rect">
            <a:avLst/>
          </a:prstGeom>
          <a:solidFill>
            <a:srgbClr val="5C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092440" y="4599432"/>
            <a:ext cx="22860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000" b="1">
                <a:solidFill>
                  <a:srgbClr val="1D1F43"/>
                </a:solidFill>
                <a:latin typeface="Aptos"/>
              </a:defRPr>
            </a:pPr>
            <a:r>
              <a:t>Education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5989320"/>
            <a:ext cx="640080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100" b="0">
                <a:solidFill>
                  <a:srgbClr val="CFD5F4"/>
                </a:solidFill>
                <a:latin typeface="Aptos"/>
              </a:defRPr>
            </a:pPr>
            <a:r>
              <a:t>Presented by: [Your Name]  •  Class/Section: [Your Class]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24160" y="6263640"/>
            <a:ext cx="11430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defRPr sz="900" b="1">
                <a:solidFill>
                  <a:srgbClr val="CFD5F4"/>
                </a:solidFill>
                <a:latin typeface="Aptos"/>
              </a:defRPr>
            </a:pPr>
            <a:r>
              <a:t>01 / 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gradi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10789920" y="411480"/>
            <a:ext cx="502920" cy="502920"/>
          </a:xfrm>
          <a:prstGeom prst="ellipse">
            <a:avLst/>
          </a:prstGeom>
          <a:solidFill>
            <a:srgbClr val="44D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38560" y="5760720"/>
            <a:ext cx="201168" cy="201168"/>
          </a:xfrm>
          <a:prstGeom prst="ellipse">
            <a:avLst/>
          </a:prstGeom>
          <a:solidFill>
            <a:srgbClr val="FF7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320040" y="6080760"/>
            <a:ext cx="164592" cy="164592"/>
          </a:xfrm>
          <a:prstGeom prst="ellipse">
            <a:avLst/>
          </a:prstGeom>
          <a:solidFill>
            <a:srgbClr val="5C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80467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000" b="1">
                <a:solidFill>
                  <a:srgbClr val="44D5EB"/>
                </a:solidFill>
                <a:latin typeface="Aptos"/>
              </a:defRPr>
            </a:pPr>
            <a:r>
              <a:t>01 • PROJECT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713232"/>
            <a:ext cx="10515600" cy="56692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2900" b="1">
                <a:solidFill>
                  <a:srgbClr val="F8F9FF"/>
                </a:solidFill>
                <a:latin typeface="Aptos"/>
              </a:defRPr>
            </a:pPr>
            <a:r>
              <a:t>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438912"/>
            <a:ext cx="5029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defRPr sz="1100" b="1">
                <a:solidFill>
                  <a:srgbClr val="CFD5F4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1353312"/>
            <a:ext cx="658368" cy="50292"/>
          </a:xfrm>
          <a:prstGeom prst="rect">
            <a:avLst/>
          </a:prstGeom>
          <a:solidFill>
            <a:srgbClr val="44D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1664208"/>
            <a:ext cx="10607040" cy="6217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700" b="0">
                <a:solidFill>
                  <a:srgbClr val="F8F9FF"/>
                </a:solidFill>
                <a:latin typeface="Aptos"/>
              </a:defRPr>
            </a:pPr>
            <a:r>
              <a:t>A student portfolio is a single place to present academic and personal achievements in a clear, organized way.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43200"/>
            <a:ext cx="3401568" cy="187451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41247" y="2944368"/>
            <a:ext cx="73152" cy="1472184"/>
          </a:xfrm>
          <a:prstGeom prst="rect">
            <a:avLst/>
          </a:prstGeom>
          <a:solidFill>
            <a:srgbClr val="44D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42415" y="2944368"/>
            <a:ext cx="2816352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600" b="1">
                <a:solidFill>
                  <a:srgbClr val="1D1F43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5" y="3456432"/>
            <a:ext cx="2798064" cy="1005839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200" b="0">
                <a:solidFill>
                  <a:srgbClr val="565B7F"/>
                </a:solidFill>
                <a:latin typeface="Aptos"/>
              </a:defRPr>
            </a:pPr>
            <a:r>
              <a:t>Present skills, projects, education and achievements in one place.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53128" y="2743200"/>
            <a:ext cx="3401568" cy="187451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636008" y="2944368"/>
            <a:ext cx="73152" cy="1472184"/>
          </a:xfrm>
          <a:prstGeom prst="rect">
            <a:avLst/>
          </a:prstGeom>
          <a:solidFill>
            <a:srgbClr val="FF7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37176" y="2944368"/>
            <a:ext cx="2816352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600" b="1">
                <a:solidFill>
                  <a:srgbClr val="1D1F43"/>
                </a:solidFill>
                <a:latin typeface="Aptos"/>
              </a:defRPr>
            </a:pPr>
            <a:r>
              <a:t>Format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37176" y="3456432"/>
            <a:ext cx="2798064" cy="1005839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200" b="0">
                <a:solidFill>
                  <a:srgbClr val="565B7F"/>
                </a:solidFill>
                <a:latin typeface="Aptos"/>
              </a:defRPr>
            </a:pPr>
            <a:r>
              <a:t>A web-based application accessible through a browser.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47888" y="2743200"/>
            <a:ext cx="3401568" cy="187451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430768" y="2944368"/>
            <a:ext cx="73152" cy="1472184"/>
          </a:xfrm>
          <a:prstGeom prst="rect">
            <a:avLst/>
          </a:prstGeom>
          <a:solidFill>
            <a:srgbClr val="5C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31936" y="2944368"/>
            <a:ext cx="2816352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600" b="1">
                <a:solidFill>
                  <a:srgbClr val="1D1F43"/>
                </a:solidFill>
                <a:latin typeface="Aptos"/>
              </a:defRPr>
            </a:pPr>
            <a:r>
              <a:t>Outcome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1936" y="3456432"/>
            <a:ext cx="2798064" cy="1005839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200" b="0">
                <a:solidFill>
                  <a:srgbClr val="565B7F"/>
                </a:solidFill>
                <a:latin typeface="Aptos"/>
              </a:defRPr>
            </a:pPr>
            <a:r>
              <a:t>A convenient profile to share with faculty, recruiters or peers.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5074920"/>
            <a:ext cx="10835640" cy="749808"/>
          </a:xfrm>
          <a:prstGeom prst="roundRect">
            <a:avLst/>
          </a:prstGeom>
          <a:solidFill>
            <a:srgbClr val="303270"/>
          </a:solidFill>
          <a:ln w="15240">
            <a:solidFill>
              <a:srgbClr val="5F6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5285232"/>
            <a:ext cx="1024128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400" b="1">
                <a:solidFill>
                  <a:srgbClr val="F8F9FF"/>
                </a:solidFill>
                <a:latin typeface="Aptos"/>
              </a:defRPr>
            </a:pPr>
            <a:r>
              <a:t>Full-stack connection: React frontend  →  Express API  →  MongoDB database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gradi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10789920" y="411480"/>
            <a:ext cx="502920" cy="502920"/>
          </a:xfrm>
          <a:prstGeom prst="ellipse">
            <a:avLst/>
          </a:prstGeom>
          <a:solidFill>
            <a:srgbClr val="44D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38560" y="5760720"/>
            <a:ext cx="201168" cy="201168"/>
          </a:xfrm>
          <a:prstGeom prst="ellipse">
            <a:avLst/>
          </a:prstGeom>
          <a:solidFill>
            <a:srgbClr val="FF7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320040" y="6080760"/>
            <a:ext cx="164592" cy="164592"/>
          </a:xfrm>
          <a:prstGeom prst="ellipse">
            <a:avLst/>
          </a:prstGeom>
          <a:solidFill>
            <a:srgbClr val="5C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80467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000" b="1">
                <a:solidFill>
                  <a:srgbClr val="44D5EB"/>
                </a:solidFill>
                <a:latin typeface="Aptos"/>
              </a:defRPr>
            </a:pPr>
            <a:r>
              <a:t>02 • WHY THIS PROJECT?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713232"/>
            <a:ext cx="10515600" cy="56692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2900" b="1">
                <a:solidFill>
                  <a:srgbClr val="F8F9FF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438912"/>
            <a:ext cx="5029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defRPr sz="1100" b="1">
                <a:solidFill>
                  <a:srgbClr val="CFD5F4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1353312"/>
            <a:ext cx="658368" cy="50292"/>
          </a:xfrm>
          <a:prstGeom prst="rect">
            <a:avLst/>
          </a:prstGeom>
          <a:solidFill>
            <a:srgbClr val="44D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1664208"/>
            <a:ext cx="10607040" cy="5943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700" b="0">
                <a:solidFill>
                  <a:srgbClr val="F8F9FF"/>
                </a:solidFill>
                <a:latin typeface="Aptos"/>
              </a:defRPr>
            </a:pPr>
            <a:r>
              <a:t>Student information can be scattered, making it harder to present a complete profile.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514600"/>
            <a:ext cx="5074920" cy="1261872"/>
          </a:xfrm>
          <a:prstGeom prst="roundRect">
            <a:avLst/>
          </a:prstGeom>
          <a:solidFill>
            <a:srgbClr val="2F3070"/>
          </a:solidFill>
          <a:ln w="15240">
            <a:solidFill>
              <a:srgbClr val="61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68680" y="2715768"/>
            <a:ext cx="73152" cy="859536"/>
          </a:xfrm>
          <a:prstGeom prst="rect">
            <a:avLst/>
          </a:prstGeom>
          <a:solidFill>
            <a:srgbClr val="44D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69848" y="2697480"/>
            <a:ext cx="50292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800" b="1">
                <a:solidFill>
                  <a:srgbClr val="44D5EB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36776" y="2715768"/>
            <a:ext cx="3922776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600" b="1">
                <a:solidFill>
                  <a:srgbClr val="F8F9FF"/>
                </a:solidFill>
                <a:latin typeface="Aptos"/>
              </a:defRPr>
            </a:pPr>
            <a:r>
              <a:t>Scattered details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3227832"/>
            <a:ext cx="4471416" cy="393191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200" b="0">
                <a:solidFill>
                  <a:srgbClr val="CFD5F4"/>
                </a:solidFill>
                <a:latin typeface="Aptos"/>
              </a:defRPr>
            </a:pPr>
            <a:r>
              <a:t>Academic details, skills and projects may live across different documents and platforms.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514600"/>
            <a:ext cx="5074920" cy="1261872"/>
          </a:xfrm>
          <a:prstGeom prst="roundRect">
            <a:avLst/>
          </a:prstGeom>
          <a:solidFill>
            <a:srgbClr val="2F3070"/>
          </a:solidFill>
          <a:ln w="15240">
            <a:solidFill>
              <a:srgbClr val="61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0" y="2715768"/>
            <a:ext cx="73152" cy="859536"/>
          </a:xfrm>
          <a:prstGeom prst="rect">
            <a:avLst/>
          </a:prstGeom>
          <a:solidFill>
            <a:srgbClr val="FF7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01968" y="2697480"/>
            <a:ext cx="50292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800" b="1">
                <a:solidFill>
                  <a:srgbClr val="FF7DB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68896" y="2715768"/>
            <a:ext cx="3922776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600" b="1">
                <a:solidFill>
                  <a:srgbClr val="F8F9FF"/>
                </a:solidFill>
                <a:latin typeface="Aptos"/>
              </a:defRPr>
            </a:pPr>
            <a:r>
              <a:t>Time-consuming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1968" y="3227832"/>
            <a:ext cx="4471416" cy="393191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200" b="0">
                <a:solidFill>
                  <a:srgbClr val="CFD5F4"/>
                </a:solidFill>
                <a:latin typeface="Aptos"/>
              </a:defRPr>
            </a:pPr>
            <a:r>
              <a:t>Preparing a portfolio manually can take time and require repeated formatting.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69080"/>
            <a:ext cx="5074920" cy="1261872"/>
          </a:xfrm>
          <a:prstGeom prst="roundRect">
            <a:avLst/>
          </a:prstGeom>
          <a:solidFill>
            <a:srgbClr val="2F3070"/>
          </a:solidFill>
          <a:ln w="15240">
            <a:solidFill>
              <a:srgbClr val="61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68680" y="4270248"/>
            <a:ext cx="73152" cy="859536"/>
          </a:xfrm>
          <a:prstGeom prst="rect">
            <a:avLst/>
          </a:prstGeom>
          <a:solidFill>
            <a:srgbClr val="5C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69848" y="4251960"/>
            <a:ext cx="50292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800" b="1">
                <a:solidFill>
                  <a:srgbClr val="5CE0B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36776" y="4270248"/>
            <a:ext cx="3922776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600" b="1">
                <a:solidFill>
                  <a:srgbClr val="F8F9FF"/>
                </a:solidFill>
                <a:latin typeface="Aptos"/>
              </a:defRPr>
            </a:pPr>
            <a:r>
              <a:t>Hard to update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" y="4782312"/>
            <a:ext cx="4471416" cy="393191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200" b="0">
                <a:solidFill>
                  <a:srgbClr val="CFD5F4"/>
                </a:solidFill>
                <a:latin typeface="Aptos"/>
              </a:defRPr>
            </a:pPr>
            <a:r>
              <a:t>Static documents can be inconvenient to update as students gain experience.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069080"/>
            <a:ext cx="5074920" cy="1261872"/>
          </a:xfrm>
          <a:prstGeom prst="roundRect">
            <a:avLst/>
          </a:prstGeom>
          <a:solidFill>
            <a:srgbClr val="2F3070"/>
          </a:solidFill>
          <a:ln w="15240">
            <a:solidFill>
              <a:srgbClr val="61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400800" y="4270248"/>
            <a:ext cx="73152" cy="859536"/>
          </a:xfrm>
          <a:prstGeom prst="rect">
            <a:avLst/>
          </a:prstGeom>
          <a:solidFill>
            <a:srgbClr val="FFB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01968" y="4251960"/>
            <a:ext cx="50292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800" b="1">
                <a:solidFill>
                  <a:srgbClr val="FFBE5D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68896" y="4270248"/>
            <a:ext cx="3922776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600" b="1">
                <a:solidFill>
                  <a:srgbClr val="F8F9FF"/>
                </a:solidFill>
                <a:latin typeface="Aptos"/>
              </a:defRPr>
            </a:pPr>
            <a:r>
              <a:t>Need for one place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01968" y="4782312"/>
            <a:ext cx="4471416" cy="393191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200" b="0">
                <a:solidFill>
                  <a:srgbClr val="CFD5F4"/>
                </a:solidFill>
                <a:latin typeface="Aptos"/>
              </a:defRPr>
            </a:pPr>
            <a:r>
              <a:t>Students need a simple way to organize and present their information.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gradi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10789920" y="411480"/>
            <a:ext cx="502920" cy="502920"/>
          </a:xfrm>
          <a:prstGeom prst="ellipse">
            <a:avLst/>
          </a:prstGeom>
          <a:solidFill>
            <a:srgbClr val="44D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38560" y="5760720"/>
            <a:ext cx="201168" cy="201168"/>
          </a:xfrm>
          <a:prstGeom prst="ellipse">
            <a:avLst/>
          </a:prstGeom>
          <a:solidFill>
            <a:srgbClr val="FF7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320040" y="6080760"/>
            <a:ext cx="164592" cy="164592"/>
          </a:xfrm>
          <a:prstGeom prst="ellipse">
            <a:avLst/>
          </a:prstGeom>
          <a:solidFill>
            <a:srgbClr val="5C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80467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000" b="1">
                <a:solidFill>
                  <a:srgbClr val="44D5EB"/>
                </a:solidFill>
                <a:latin typeface="Aptos"/>
              </a:defRPr>
            </a:pPr>
            <a:r>
              <a:t>03 • OUR 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713232"/>
            <a:ext cx="10515600" cy="56692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2900" b="1">
                <a:solidFill>
                  <a:srgbClr val="F8F9FF"/>
                </a:solidFill>
                <a:latin typeface="Aptos"/>
              </a:defRPr>
            </a:pPr>
            <a:r>
              <a:t>Proposed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438912"/>
            <a:ext cx="5029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defRPr sz="1100" b="1">
                <a:solidFill>
                  <a:srgbClr val="CFD5F4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1353312"/>
            <a:ext cx="658368" cy="50292"/>
          </a:xfrm>
          <a:prstGeom prst="rect">
            <a:avLst/>
          </a:prstGeom>
          <a:solidFill>
            <a:srgbClr val="44D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1664208"/>
            <a:ext cx="10515600" cy="5943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700" b="0">
                <a:solidFill>
                  <a:srgbClr val="F8F9FF"/>
                </a:solidFill>
                <a:latin typeface="Aptos"/>
              </a:defRPr>
            </a:pPr>
            <a:r>
              <a:t>Build a simple web app where students can create, view and manage portfolio information.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743200"/>
            <a:ext cx="3310128" cy="1828800"/>
          </a:xfrm>
          <a:prstGeom prst="roundRect">
            <a:avLst/>
          </a:prstGeom>
          <a:solidFill>
            <a:srgbClr val="2F3070"/>
          </a:solidFill>
          <a:ln w="15240">
            <a:solidFill>
              <a:srgbClr val="61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400" y="2944368"/>
            <a:ext cx="73152" cy="1426464"/>
          </a:xfrm>
          <a:prstGeom prst="rect">
            <a:avLst/>
          </a:prstGeom>
          <a:solidFill>
            <a:srgbClr val="44D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15568" y="2926080"/>
            <a:ext cx="50292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800" b="1">
                <a:solidFill>
                  <a:srgbClr val="44D5EB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82495" y="2944368"/>
            <a:ext cx="2157984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600" b="1">
                <a:solidFill>
                  <a:srgbClr val="F8F9FF"/>
                </a:solidFill>
                <a:latin typeface="Aptos"/>
              </a:defRPr>
            </a:pPr>
            <a:r>
              <a:t>Enter information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3456432"/>
            <a:ext cx="2706624" cy="9601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200" b="0">
                <a:solidFill>
                  <a:srgbClr val="CFD5F4"/>
                </a:solidFill>
                <a:latin typeface="Aptos"/>
              </a:defRPr>
            </a:pPr>
            <a:r>
              <a:t>Add profile details and portfolio content using the web interface.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78224" y="3429000"/>
            <a:ext cx="45720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2400" b="1">
                <a:solidFill>
                  <a:srgbClr val="44D5E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53712" y="2743200"/>
            <a:ext cx="3310128" cy="1828800"/>
          </a:xfrm>
          <a:prstGeom prst="roundRect">
            <a:avLst/>
          </a:prstGeom>
          <a:solidFill>
            <a:srgbClr val="2F3070"/>
          </a:solidFill>
          <a:ln w="15240">
            <a:solidFill>
              <a:srgbClr val="61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736592" y="2944368"/>
            <a:ext cx="73152" cy="1426464"/>
          </a:xfrm>
          <a:prstGeom prst="rect">
            <a:avLst/>
          </a:prstGeom>
          <a:solidFill>
            <a:srgbClr val="FF7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37759" y="2926080"/>
            <a:ext cx="50292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800" b="1">
                <a:solidFill>
                  <a:srgbClr val="FF7DB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04688" y="2944368"/>
            <a:ext cx="2157984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600" b="1">
                <a:solidFill>
                  <a:srgbClr val="F8F9FF"/>
                </a:solidFill>
                <a:latin typeface="Aptos"/>
              </a:defRPr>
            </a:pPr>
            <a:r>
              <a:t>Send requests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59" y="3456432"/>
            <a:ext cx="2706624" cy="9601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200" b="0">
                <a:solidFill>
                  <a:srgbClr val="CFD5F4"/>
                </a:solidFill>
                <a:latin typeface="Aptos"/>
              </a:defRPr>
            </a:pPr>
            <a:r>
              <a:t>The React frontend communicates with the Express.js backend API.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0416" y="3429000"/>
            <a:ext cx="45720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2400" b="1">
                <a:solidFill>
                  <a:srgbClr val="44D5E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75904" y="2743200"/>
            <a:ext cx="3310128" cy="1828800"/>
          </a:xfrm>
          <a:prstGeom prst="roundRect">
            <a:avLst/>
          </a:prstGeom>
          <a:solidFill>
            <a:srgbClr val="2F3070"/>
          </a:solidFill>
          <a:ln w="15240">
            <a:solidFill>
              <a:srgbClr val="61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558784" y="2944368"/>
            <a:ext cx="73152" cy="1426464"/>
          </a:xfrm>
          <a:prstGeom prst="rect">
            <a:avLst/>
          </a:prstGeom>
          <a:solidFill>
            <a:srgbClr val="5C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759952" y="2926080"/>
            <a:ext cx="50292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800" b="1">
                <a:solidFill>
                  <a:srgbClr val="5CE0B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2944368"/>
            <a:ext cx="2157984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600" b="1">
                <a:solidFill>
                  <a:srgbClr val="F8F9FF"/>
                </a:solidFill>
                <a:latin typeface="Aptos"/>
              </a:defRPr>
            </a:pPr>
            <a:r>
              <a:t>Store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59952" y="3456432"/>
            <a:ext cx="2706624" cy="9601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200" b="0">
                <a:solidFill>
                  <a:srgbClr val="CFD5F4"/>
                </a:solidFill>
                <a:latin typeface="Aptos"/>
              </a:defRPr>
            </a:pPr>
            <a:r>
              <a:t>The backend uses MongoDB Atlas to store and retrieve portfolio records.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074920"/>
            <a:ext cx="10698480" cy="640080"/>
          </a:xfrm>
          <a:prstGeom prst="roundRect">
            <a:avLst/>
          </a:prstGeom>
          <a:solidFill>
            <a:srgbClr val="303270"/>
          </a:solidFill>
          <a:ln w="15240">
            <a:solidFill>
              <a:srgbClr val="5F6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4400" y="5257800"/>
            <a:ext cx="103327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300" b="1">
                <a:solidFill>
                  <a:srgbClr val="F8F9FF"/>
                </a:solidFill>
                <a:latin typeface="Aptos"/>
              </a:defRPr>
            </a:pPr>
            <a:r>
              <a:t>Deployed online • Open the application through a shareable website link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gradi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10789920" y="411480"/>
            <a:ext cx="502920" cy="502920"/>
          </a:xfrm>
          <a:prstGeom prst="ellipse">
            <a:avLst/>
          </a:prstGeom>
          <a:solidFill>
            <a:srgbClr val="44D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38560" y="5760720"/>
            <a:ext cx="201168" cy="201168"/>
          </a:xfrm>
          <a:prstGeom prst="ellipse">
            <a:avLst/>
          </a:prstGeom>
          <a:solidFill>
            <a:srgbClr val="FF7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320040" y="6080760"/>
            <a:ext cx="164592" cy="164592"/>
          </a:xfrm>
          <a:prstGeom prst="ellipse">
            <a:avLst/>
          </a:prstGeom>
          <a:solidFill>
            <a:srgbClr val="5C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80467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000" b="1">
                <a:solidFill>
                  <a:srgbClr val="44D5EB"/>
                </a:solidFill>
                <a:latin typeface="Aptos"/>
              </a:defRPr>
            </a:pPr>
            <a:r>
              <a:t>04 • TECHNOLOGY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713232"/>
            <a:ext cx="10515600" cy="56692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2900" b="1">
                <a:solidFill>
                  <a:srgbClr val="F8F9FF"/>
                </a:solidFill>
                <a:latin typeface="Aptos"/>
              </a:defRPr>
            </a:pPr>
            <a:r>
              <a:t>Technologies Used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438912"/>
            <a:ext cx="5029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defRPr sz="1100" b="1">
                <a:solidFill>
                  <a:srgbClr val="CFD5F4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1353312"/>
            <a:ext cx="658368" cy="50292"/>
          </a:xfrm>
          <a:prstGeom prst="rect">
            <a:avLst/>
          </a:prstGeom>
          <a:solidFill>
            <a:srgbClr val="44D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3401568" cy="1481328"/>
          </a:xfrm>
          <a:prstGeom prst="roundRect">
            <a:avLst/>
          </a:prstGeom>
          <a:solidFill>
            <a:srgbClr val="2F3070"/>
          </a:solidFill>
          <a:ln w="15240">
            <a:solidFill>
              <a:srgbClr val="61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41247" y="1984248"/>
            <a:ext cx="73152" cy="1078992"/>
          </a:xfrm>
          <a:prstGeom prst="rect">
            <a:avLst/>
          </a:prstGeom>
          <a:solidFill>
            <a:srgbClr val="44D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42415" y="1984248"/>
            <a:ext cx="2816352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600" b="1">
                <a:solidFill>
                  <a:srgbClr val="F8F9FF"/>
                </a:solidFill>
                <a:latin typeface="Aptos"/>
              </a:defRPr>
            </a:pPr>
            <a:r>
              <a:t>React.js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5" y="2496312"/>
            <a:ext cx="2798064" cy="6126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200" b="0">
                <a:solidFill>
                  <a:srgbClr val="CFD5F4"/>
                </a:solidFill>
                <a:latin typeface="Aptos"/>
              </a:defRPr>
            </a:pPr>
            <a:r>
              <a:t>Interactive frontend and user interface.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53128" y="1783080"/>
            <a:ext cx="3401568" cy="1481328"/>
          </a:xfrm>
          <a:prstGeom prst="roundRect">
            <a:avLst/>
          </a:prstGeom>
          <a:solidFill>
            <a:srgbClr val="2F3070"/>
          </a:solidFill>
          <a:ln w="15240">
            <a:solidFill>
              <a:srgbClr val="61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636008" y="1984248"/>
            <a:ext cx="73152" cy="1078992"/>
          </a:xfrm>
          <a:prstGeom prst="rect">
            <a:avLst/>
          </a:prstGeom>
          <a:solidFill>
            <a:srgbClr val="FF7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37176" y="1984248"/>
            <a:ext cx="2816352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600" b="1">
                <a:solidFill>
                  <a:srgbClr val="F8F9FF"/>
                </a:solidFill>
                <a:latin typeface="Aptos"/>
              </a:defRPr>
            </a:pPr>
            <a:r>
              <a:t>Express.js + Node.js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37176" y="2496312"/>
            <a:ext cx="2798064" cy="6126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200" b="0">
                <a:solidFill>
                  <a:srgbClr val="CFD5F4"/>
                </a:solidFill>
                <a:latin typeface="Aptos"/>
              </a:defRPr>
            </a:pPr>
            <a:r>
              <a:t>Backend routes and API request handling.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47888" y="1783080"/>
            <a:ext cx="3401568" cy="1481328"/>
          </a:xfrm>
          <a:prstGeom prst="roundRect">
            <a:avLst/>
          </a:prstGeom>
          <a:solidFill>
            <a:srgbClr val="2F3070"/>
          </a:solidFill>
          <a:ln w="15240">
            <a:solidFill>
              <a:srgbClr val="61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430768" y="1984248"/>
            <a:ext cx="73152" cy="1078992"/>
          </a:xfrm>
          <a:prstGeom prst="rect">
            <a:avLst/>
          </a:prstGeom>
          <a:solidFill>
            <a:srgbClr val="5C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31936" y="1984248"/>
            <a:ext cx="2816352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600" b="1">
                <a:solidFill>
                  <a:srgbClr val="F8F9FF"/>
                </a:solidFill>
                <a:latin typeface="Aptos"/>
              </a:defRPr>
            </a:pPr>
            <a:r>
              <a:t>MongoDB Atlas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31936" y="2496312"/>
            <a:ext cx="2798064" cy="6126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200" b="0">
                <a:solidFill>
                  <a:srgbClr val="CFD5F4"/>
                </a:solidFill>
                <a:latin typeface="Aptos"/>
              </a:defRPr>
            </a:pPr>
            <a:r>
              <a:t>Cloud database for portfolio data.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657600"/>
            <a:ext cx="3401568" cy="1481328"/>
          </a:xfrm>
          <a:prstGeom prst="roundRect">
            <a:avLst/>
          </a:prstGeom>
          <a:solidFill>
            <a:srgbClr val="2F3070"/>
          </a:solidFill>
          <a:ln w="15240">
            <a:solidFill>
              <a:srgbClr val="61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41247" y="3858768"/>
            <a:ext cx="73152" cy="1078992"/>
          </a:xfrm>
          <a:prstGeom prst="rect">
            <a:avLst/>
          </a:prstGeom>
          <a:solidFill>
            <a:srgbClr val="FFB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42415" y="3858768"/>
            <a:ext cx="2816352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600" b="1">
                <a:solidFill>
                  <a:srgbClr val="F8F9FF"/>
                </a:solidFill>
                <a:latin typeface="Aptos"/>
              </a:defRPr>
            </a:pPr>
            <a:r>
              <a:t>Vite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5" y="4370832"/>
            <a:ext cx="2798064" cy="6126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200" b="0">
                <a:solidFill>
                  <a:srgbClr val="CFD5F4"/>
                </a:solidFill>
                <a:latin typeface="Aptos"/>
              </a:defRPr>
            </a:pPr>
            <a:r>
              <a:t>Frontend development server and production build.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53128" y="3657600"/>
            <a:ext cx="3401568" cy="1481328"/>
          </a:xfrm>
          <a:prstGeom prst="roundRect">
            <a:avLst/>
          </a:prstGeom>
          <a:solidFill>
            <a:srgbClr val="2F3070"/>
          </a:solidFill>
          <a:ln w="15240">
            <a:solidFill>
              <a:srgbClr val="61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636008" y="3858768"/>
            <a:ext cx="73152" cy="1078992"/>
          </a:xfrm>
          <a:prstGeom prst="rect">
            <a:avLst/>
          </a:prstGeom>
          <a:solidFill>
            <a:srgbClr val="AD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37176" y="3858768"/>
            <a:ext cx="2816352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600" b="1">
                <a:solidFill>
                  <a:srgbClr val="F8F9FF"/>
                </a:solidFill>
                <a:latin typeface="Aptos"/>
              </a:defRPr>
            </a:pPr>
            <a:r>
              <a:t>Vercel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37176" y="4370832"/>
            <a:ext cx="2798064" cy="6126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200" b="0">
                <a:solidFill>
                  <a:srgbClr val="CFD5F4"/>
                </a:solidFill>
                <a:latin typeface="Aptos"/>
              </a:defRPr>
            </a:pPr>
            <a:r>
              <a:t>Hosts the deployed frontend website.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47888" y="3657600"/>
            <a:ext cx="3401568" cy="1481328"/>
          </a:xfrm>
          <a:prstGeom prst="roundRect">
            <a:avLst/>
          </a:prstGeom>
          <a:solidFill>
            <a:srgbClr val="2F3070"/>
          </a:solidFill>
          <a:ln w="15240">
            <a:solidFill>
              <a:srgbClr val="61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430768" y="3858768"/>
            <a:ext cx="73152" cy="1078992"/>
          </a:xfrm>
          <a:prstGeom prst="rect">
            <a:avLst/>
          </a:prstGeom>
          <a:solidFill>
            <a:srgbClr val="FF9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631936" y="3858768"/>
            <a:ext cx="2816352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600" b="1">
                <a:solidFill>
                  <a:srgbClr val="F8F9FF"/>
                </a:solidFill>
                <a:latin typeface="Aptos"/>
              </a:defRPr>
            </a:pPr>
            <a:r>
              <a:t>Render + GitHub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31936" y="4370832"/>
            <a:ext cx="2798064" cy="6126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200" b="0">
                <a:solidFill>
                  <a:srgbClr val="CFD5F4"/>
                </a:solidFill>
                <a:latin typeface="Aptos"/>
              </a:defRPr>
            </a:pPr>
            <a:r>
              <a:t>Render hosts the backend; GitHub stores source code.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5806440"/>
            <a:ext cx="1051560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300" b="1">
                <a:solidFill>
                  <a:srgbClr val="44D5EB"/>
                </a:solidFill>
                <a:latin typeface="Aptos"/>
              </a:defRPr>
            </a:pPr>
            <a:r>
              <a:t>Together, these tools form a full-stack web application.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gradi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10789920" y="411480"/>
            <a:ext cx="502920" cy="502920"/>
          </a:xfrm>
          <a:prstGeom prst="ellipse">
            <a:avLst/>
          </a:prstGeom>
          <a:solidFill>
            <a:srgbClr val="44D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38560" y="5760720"/>
            <a:ext cx="201168" cy="201168"/>
          </a:xfrm>
          <a:prstGeom prst="ellipse">
            <a:avLst/>
          </a:prstGeom>
          <a:solidFill>
            <a:srgbClr val="FF7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320040" y="6080760"/>
            <a:ext cx="164592" cy="164592"/>
          </a:xfrm>
          <a:prstGeom prst="ellipse">
            <a:avLst/>
          </a:prstGeom>
          <a:solidFill>
            <a:srgbClr val="5C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80467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000" b="1">
                <a:solidFill>
                  <a:srgbClr val="44D5EB"/>
                </a:solidFill>
                <a:latin typeface="Aptos"/>
              </a:defRPr>
            </a:pPr>
            <a:r>
              <a:t>05 • MAIN APPLICATION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713232"/>
            <a:ext cx="10515600" cy="56692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2900" b="1">
                <a:solidFill>
                  <a:srgbClr val="F8F9FF"/>
                </a:solidFill>
                <a:latin typeface="Aptos"/>
              </a:defRPr>
            </a:pPr>
            <a:r>
              <a:t>About the Portfolio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438912"/>
            <a:ext cx="5029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defRPr sz="1100" b="1">
                <a:solidFill>
                  <a:srgbClr val="CFD5F4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1353312"/>
            <a:ext cx="658368" cy="50292"/>
          </a:xfrm>
          <a:prstGeom prst="rect">
            <a:avLst/>
          </a:prstGeom>
          <a:solidFill>
            <a:srgbClr val="44D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1664208"/>
            <a:ext cx="5669280" cy="7772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600" b="0">
                <a:solidFill>
                  <a:srgbClr val="F8F9FF"/>
                </a:solidFill>
                <a:latin typeface="Aptos"/>
              </a:defRPr>
            </a:pPr>
            <a:r>
              <a:t>A student's profile page is a structured summary of who they are and what they have worked 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651760"/>
            <a:ext cx="5029200" cy="420624"/>
          </a:xfrm>
          <a:prstGeom prst="roundRect">
            <a:avLst/>
          </a:prstGeom>
          <a:solidFill>
            <a:srgbClr val="313370"/>
          </a:solidFill>
          <a:ln w="15240">
            <a:solidFill>
              <a:srgbClr val="5F6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14400" y="2761488"/>
            <a:ext cx="182880" cy="182880"/>
          </a:xfrm>
          <a:prstGeom prst="roundRect">
            <a:avLst/>
          </a:prstGeom>
          <a:solidFill>
            <a:srgbClr val="44D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25296" y="2724912"/>
            <a:ext cx="429768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200" b="1">
                <a:solidFill>
                  <a:srgbClr val="F8F9FF"/>
                </a:solidFill>
                <a:latin typeface="Aptos"/>
              </a:defRPr>
            </a:pPr>
            <a:r>
              <a:t>Personal profile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218688"/>
            <a:ext cx="5029200" cy="420624"/>
          </a:xfrm>
          <a:prstGeom prst="roundRect">
            <a:avLst/>
          </a:prstGeom>
          <a:solidFill>
            <a:srgbClr val="313370"/>
          </a:solidFill>
          <a:ln w="15240">
            <a:solidFill>
              <a:srgbClr val="5F6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14400" y="3328416"/>
            <a:ext cx="182880" cy="182880"/>
          </a:xfrm>
          <a:prstGeom prst="roundRect">
            <a:avLst/>
          </a:prstGeom>
          <a:solidFill>
            <a:srgbClr val="FF7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25296" y="3291840"/>
            <a:ext cx="429768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200" b="1">
                <a:solidFill>
                  <a:srgbClr val="F8F9FF"/>
                </a:solidFill>
                <a:latin typeface="Aptos"/>
              </a:defRPr>
            </a:pPr>
            <a:r>
              <a:t>Education &amp; academics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3785615"/>
            <a:ext cx="5029200" cy="420624"/>
          </a:xfrm>
          <a:prstGeom prst="roundRect">
            <a:avLst/>
          </a:prstGeom>
          <a:solidFill>
            <a:srgbClr val="313370"/>
          </a:solidFill>
          <a:ln w="15240">
            <a:solidFill>
              <a:srgbClr val="5F6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14400" y="3895344"/>
            <a:ext cx="182880" cy="182880"/>
          </a:xfrm>
          <a:prstGeom prst="roundRect">
            <a:avLst/>
          </a:prstGeom>
          <a:solidFill>
            <a:srgbClr val="5C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25296" y="3858768"/>
            <a:ext cx="429768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200" b="1">
                <a:solidFill>
                  <a:srgbClr val="F8F9FF"/>
                </a:solidFill>
                <a:latin typeface="Aptos"/>
              </a:defRPr>
            </a:pPr>
            <a:r>
              <a:t>Technical skills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352544"/>
            <a:ext cx="5029200" cy="420624"/>
          </a:xfrm>
          <a:prstGeom prst="roundRect">
            <a:avLst/>
          </a:prstGeom>
          <a:solidFill>
            <a:srgbClr val="313370"/>
          </a:solidFill>
          <a:ln w="15240">
            <a:solidFill>
              <a:srgbClr val="5F6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14400" y="4462272"/>
            <a:ext cx="182880" cy="182880"/>
          </a:xfrm>
          <a:prstGeom prst="roundRect">
            <a:avLst/>
          </a:prstGeom>
          <a:solidFill>
            <a:srgbClr val="FFB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225296" y="4425696"/>
            <a:ext cx="429768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200" b="1">
                <a:solidFill>
                  <a:srgbClr val="F8F9FF"/>
                </a:solidFill>
                <a:latin typeface="Aptos"/>
              </a:defRPr>
            </a:pPr>
            <a:r>
              <a:t>Projects &amp; achievements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4919472"/>
            <a:ext cx="5029200" cy="420624"/>
          </a:xfrm>
          <a:prstGeom prst="roundRect">
            <a:avLst/>
          </a:prstGeom>
          <a:solidFill>
            <a:srgbClr val="313370"/>
          </a:solidFill>
          <a:ln w="15240">
            <a:solidFill>
              <a:srgbClr val="5F6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14400" y="5029200"/>
            <a:ext cx="182880" cy="182880"/>
          </a:xfrm>
          <a:prstGeom prst="roundRect">
            <a:avLst/>
          </a:prstGeom>
          <a:solidFill>
            <a:srgbClr val="AD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225296" y="4992624"/>
            <a:ext cx="429768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200" b="1">
                <a:solidFill>
                  <a:srgbClr val="F8F9FF"/>
                </a:solidFill>
                <a:latin typeface="Aptos"/>
              </a:defRPr>
            </a:pPr>
            <a:r>
              <a:t>Browser-friendly presentation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29400" y="1755648"/>
            <a:ext cx="448056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903720" y="2029968"/>
            <a:ext cx="3931920" cy="640080"/>
          </a:xfrm>
          <a:prstGeom prst="roundRect">
            <a:avLst/>
          </a:prstGeom>
          <a:solidFill>
            <a:srgbClr val="EB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150608" y="2157984"/>
            <a:ext cx="365760" cy="365760"/>
          </a:xfrm>
          <a:prstGeom prst="ellipse">
            <a:avLst/>
          </a:prstGeom>
          <a:solidFill>
            <a:srgbClr val="6F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662672" y="2121408"/>
            <a:ext cx="265176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900" b="1">
                <a:solidFill>
                  <a:srgbClr val="6F52FF"/>
                </a:solidFill>
                <a:latin typeface="Aptos"/>
              </a:defRPr>
            </a:pPr>
            <a:r>
              <a:t>STUDENT PROFILE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62672" y="2331720"/>
            <a:ext cx="265176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400" b="1">
                <a:solidFill>
                  <a:srgbClr val="1D1F43"/>
                </a:solidFill>
                <a:latin typeface="Aptos"/>
              </a:defRPr>
            </a:pPr>
            <a:r>
              <a:t>Your Name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95160" y="2926080"/>
            <a:ext cx="356616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200" b="0">
                <a:solidFill>
                  <a:srgbClr val="575B80"/>
                </a:solidFill>
                <a:latin typeface="Aptos"/>
              </a:defRPr>
            </a:pPr>
            <a:r>
              <a:t>Student • Developer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95160" y="3474720"/>
            <a:ext cx="1078992" cy="384048"/>
          </a:xfrm>
          <a:prstGeom prst="roundRect">
            <a:avLst/>
          </a:prstGeom>
          <a:solidFill>
            <a:srgbClr val="F1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995160" y="3557016"/>
            <a:ext cx="1078992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800" b="1">
                <a:solidFill>
                  <a:srgbClr val="1D1F43"/>
                </a:solidFill>
                <a:latin typeface="Aptos"/>
              </a:defRPr>
            </a:pPr>
            <a:r>
              <a:t>SKILLS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0" y="3474720"/>
            <a:ext cx="1078992" cy="384048"/>
          </a:xfrm>
          <a:prstGeom prst="roundRect">
            <a:avLst/>
          </a:prstGeom>
          <a:solidFill>
            <a:srgbClr val="F1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29600" y="3557016"/>
            <a:ext cx="1078992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800" b="1">
                <a:solidFill>
                  <a:srgbClr val="1D1F43"/>
                </a:solidFill>
                <a:latin typeface="Aptos"/>
              </a:defRPr>
            </a:pPr>
            <a:r>
              <a:t>PROJECTS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464040" y="3474720"/>
            <a:ext cx="1078992" cy="384048"/>
          </a:xfrm>
          <a:prstGeom prst="roundRect">
            <a:avLst/>
          </a:prstGeom>
          <a:solidFill>
            <a:srgbClr val="F1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464040" y="3557016"/>
            <a:ext cx="1078992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800" b="1">
                <a:solidFill>
                  <a:srgbClr val="1D1F43"/>
                </a:solidFill>
                <a:latin typeface="Aptos"/>
              </a:defRPr>
            </a:pPr>
            <a:r>
              <a:t>EDUCATION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995160" y="4160520"/>
            <a:ext cx="3474720" cy="164592"/>
          </a:xfrm>
          <a:prstGeom prst="roundRect">
            <a:avLst/>
          </a:prstGeom>
          <a:solidFill>
            <a:srgbClr val="E6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6995160" y="4544568"/>
            <a:ext cx="2834640" cy="164592"/>
          </a:xfrm>
          <a:prstGeom prst="roundRect">
            <a:avLst/>
          </a:prstGeom>
          <a:solidFill>
            <a:srgbClr val="E6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6995160" y="4928616"/>
            <a:ext cx="3200400" cy="164592"/>
          </a:xfrm>
          <a:prstGeom prst="roundRect">
            <a:avLst/>
          </a:prstGeom>
          <a:solidFill>
            <a:srgbClr val="E6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995160" y="5321808"/>
            <a:ext cx="356616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800" b="0">
                <a:solidFill>
                  <a:srgbClr val="707496"/>
                </a:solidFill>
                <a:latin typeface="Aptos"/>
              </a:defRPr>
            </a:pPr>
            <a:r>
              <a:t>Illustrative profile preview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gradi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10789920" y="411480"/>
            <a:ext cx="502920" cy="502920"/>
          </a:xfrm>
          <a:prstGeom prst="ellipse">
            <a:avLst/>
          </a:prstGeom>
          <a:solidFill>
            <a:srgbClr val="44D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38560" y="5760720"/>
            <a:ext cx="201168" cy="201168"/>
          </a:xfrm>
          <a:prstGeom prst="ellipse">
            <a:avLst/>
          </a:prstGeom>
          <a:solidFill>
            <a:srgbClr val="FF7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320040" y="6080760"/>
            <a:ext cx="164592" cy="164592"/>
          </a:xfrm>
          <a:prstGeom prst="ellipse">
            <a:avLst/>
          </a:prstGeom>
          <a:solidFill>
            <a:srgbClr val="5C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80467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000" b="1">
                <a:solidFill>
                  <a:srgbClr val="44D5EB"/>
                </a:solidFill>
                <a:latin typeface="Aptos"/>
              </a:defRPr>
            </a:pPr>
            <a:r>
              <a:t>06 • APPLICATION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713232"/>
            <a:ext cx="10515600" cy="56692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2900" b="1">
                <a:solidFill>
                  <a:srgbClr val="F8F9FF"/>
                </a:solidFill>
                <a:latin typeface="Aptos"/>
              </a:defRPr>
            </a:pPr>
            <a:r>
              <a:t>How the System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438912"/>
            <a:ext cx="5029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defRPr sz="1100" b="1">
                <a:solidFill>
                  <a:srgbClr val="CFD5F4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1353312"/>
            <a:ext cx="658368" cy="50292"/>
          </a:xfrm>
          <a:prstGeom prst="rect">
            <a:avLst/>
          </a:prstGeom>
          <a:solidFill>
            <a:srgbClr val="44D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02920" y="2057400"/>
            <a:ext cx="2514600" cy="2148840"/>
          </a:xfrm>
          <a:prstGeom prst="roundRect">
            <a:avLst/>
          </a:prstGeom>
          <a:solidFill>
            <a:srgbClr val="303270"/>
          </a:solidFill>
          <a:ln w="15240">
            <a:solidFill>
              <a:srgbClr val="5F6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04088" y="2267712"/>
            <a:ext cx="475488" cy="475488"/>
          </a:xfrm>
          <a:prstGeom prst="ellipse">
            <a:avLst/>
          </a:prstGeom>
          <a:solidFill>
            <a:srgbClr val="44D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04088" y="2340864"/>
            <a:ext cx="475488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300" b="1">
                <a:solidFill>
                  <a:srgbClr val="1D1F43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286000"/>
            <a:ext cx="155448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400" b="1">
                <a:solidFill>
                  <a:srgbClr val="F8F9FF"/>
                </a:solidFill>
                <a:latin typeface="Aptos"/>
              </a:defRPr>
            </a:pPr>
            <a:r>
              <a:t>User interacts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971800"/>
            <a:ext cx="2057400" cy="8686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100" b="0">
                <a:solidFill>
                  <a:srgbClr val="CFD5F4"/>
                </a:solidFill>
                <a:latin typeface="Aptos"/>
              </a:defRPr>
            </a:pPr>
            <a:r>
              <a:t>Student enters or views portfolio information in React.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35808" y="2761488"/>
            <a:ext cx="36576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2200" b="1">
                <a:solidFill>
                  <a:srgbClr val="44D5E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29000" y="2057400"/>
            <a:ext cx="2514600" cy="2148840"/>
          </a:xfrm>
          <a:prstGeom prst="roundRect">
            <a:avLst/>
          </a:prstGeom>
          <a:solidFill>
            <a:srgbClr val="303270"/>
          </a:solidFill>
          <a:ln w="15240">
            <a:solidFill>
              <a:srgbClr val="5F6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3630168" y="2267712"/>
            <a:ext cx="475488" cy="475488"/>
          </a:xfrm>
          <a:prstGeom prst="ellipse">
            <a:avLst/>
          </a:prstGeom>
          <a:solidFill>
            <a:srgbClr val="FF7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30168" y="2340864"/>
            <a:ext cx="475488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300" b="1">
                <a:solidFill>
                  <a:srgbClr val="1D1F43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2286000"/>
            <a:ext cx="155448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400" b="1">
                <a:solidFill>
                  <a:srgbClr val="F8F9FF"/>
                </a:solidFill>
                <a:latin typeface="Aptos"/>
              </a:defRPr>
            </a:pPr>
            <a:r>
              <a:t>API request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971800"/>
            <a:ext cx="2057400" cy="8686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100" b="0">
                <a:solidFill>
                  <a:srgbClr val="CFD5F4"/>
                </a:solidFill>
                <a:latin typeface="Aptos"/>
              </a:defRPr>
            </a:pPr>
            <a:r>
              <a:t>Frontend sends a request to the Express backend.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61888" y="2761488"/>
            <a:ext cx="36576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2200" b="1">
                <a:solidFill>
                  <a:srgbClr val="44D5E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2057400"/>
            <a:ext cx="2514600" cy="2148840"/>
          </a:xfrm>
          <a:prstGeom prst="roundRect">
            <a:avLst/>
          </a:prstGeom>
          <a:solidFill>
            <a:srgbClr val="303270"/>
          </a:solidFill>
          <a:ln w="15240">
            <a:solidFill>
              <a:srgbClr val="5F6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556248" y="2267712"/>
            <a:ext cx="475488" cy="475488"/>
          </a:xfrm>
          <a:prstGeom prst="ellipse">
            <a:avLst/>
          </a:prstGeom>
          <a:solidFill>
            <a:srgbClr val="5C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56248" y="2340864"/>
            <a:ext cx="475488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300" b="1">
                <a:solidFill>
                  <a:srgbClr val="1D1F43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2286000"/>
            <a:ext cx="155448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400" b="1">
                <a:solidFill>
                  <a:srgbClr val="F8F9FF"/>
                </a:solidFill>
                <a:latin typeface="Aptos"/>
              </a:defRPr>
            </a:pPr>
            <a:r>
              <a:t>Database operation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2971800"/>
            <a:ext cx="2057400" cy="8686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100" b="0">
                <a:solidFill>
                  <a:srgbClr val="CFD5F4"/>
                </a:solidFill>
                <a:latin typeface="Aptos"/>
              </a:defRPr>
            </a:pPr>
            <a:r>
              <a:t>Backend reads or writes records in MongoDB Atlas.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87968" y="2761488"/>
            <a:ext cx="36576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2200" b="1">
                <a:solidFill>
                  <a:srgbClr val="44D5E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281160" y="2057400"/>
            <a:ext cx="2514600" cy="2148840"/>
          </a:xfrm>
          <a:prstGeom prst="roundRect">
            <a:avLst/>
          </a:prstGeom>
          <a:solidFill>
            <a:srgbClr val="303270"/>
          </a:solidFill>
          <a:ln w="15240">
            <a:solidFill>
              <a:srgbClr val="5F6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9482328" y="2267712"/>
            <a:ext cx="475488" cy="475488"/>
          </a:xfrm>
          <a:prstGeom prst="ellipse">
            <a:avLst/>
          </a:prstGeom>
          <a:solidFill>
            <a:srgbClr val="FFB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482328" y="2340864"/>
            <a:ext cx="475488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300" b="1">
                <a:solidFill>
                  <a:srgbClr val="1D1F43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2286000"/>
            <a:ext cx="155448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400" b="1">
                <a:solidFill>
                  <a:srgbClr val="F8F9FF"/>
                </a:solidFill>
                <a:latin typeface="Aptos"/>
              </a:defRPr>
            </a:pPr>
            <a:r>
              <a:t>Response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9760" y="2971800"/>
            <a:ext cx="2057400" cy="8686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100" b="0">
                <a:solidFill>
                  <a:srgbClr val="CFD5F4"/>
                </a:solidFill>
                <a:latin typeface="Aptos"/>
              </a:defRPr>
            </a:pPr>
            <a:r>
              <a:t>API returns data and the frontend updates the page.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4800600"/>
            <a:ext cx="10835640" cy="731520"/>
          </a:xfrm>
          <a:prstGeom prst="roundRect">
            <a:avLst/>
          </a:prstGeom>
          <a:solidFill>
            <a:srgbClr val="303270"/>
          </a:solidFill>
          <a:ln w="15240">
            <a:solidFill>
              <a:srgbClr val="5F6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68680" y="5029200"/>
            <a:ext cx="1042416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200" b="1">
                <a:solidFill>
                  <a:srgbClr val="F8F9FF"/>
                </a:solidFill>
                <a:latin typeface="Aptos"/>
              </a:defRPr>
            </a:pPr>
            <a:r>
              <a:t>Deployment:  Vercel (frontend)   ↔   Render (backend)   ↔   MongoDB Atlas (database)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5486400" cy="22860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defRPr sz="1000" b="1">
                <a:solidFill>
                  <a:srgbClr val="68E0D6"/>
                </a:solidFill>
                <a:latin typeface="Aptos"/>
              </a:defRPr>
            </a:pPr>
            <a:r>
              <a:t>LIVE WEBSITE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064240" cy="41148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defRPr sz="2500" b="1">
                <a:solidFill>
                  <a:srgbClr val="F2F4FF"/>
                </a:solidFill>
                <a:latin typeface="Aptos"/>
              </a:defRPr>
            </a:pPr>
            <a:r>
              <a:t>Create and manage portfolios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87552"/>
            <a:ext cx="5394960" cy="22860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defRPr sz="1200" b="1">
                <a:solidFill>
                  <a:srgbClr val="C2B1FF"/>
                </a:solidFill>
                <a:latin typeface="Aptos"/>
              </a:defRPr>
            </a:pPr>
            <a:r>
              <a:t>1. Portfolio editor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25296"/>
            <a:ext cx="5394960" cy="41148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defRPr sz="900" b="0">
                <a:solidFill>
                  <a:srgbClr val="B7C2DE"/>
                </a:solidFill>
                <a:latin typeface="Aptos"/>
              </a:defRPr>
            </a:pPr>
            <a:r>
              <a:t>Add personal details, education, skills, projects and profile links. Choose from eight templates.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36208" y="987552"/>
            <a:ext cx="5394960" cy="22860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defRPr sz="1200" b="1">
                <a:solidFill>
                  <a:srgbClr val="C2B1FF"/>
                </a:solidFill>
                <a:latin typeface="Aptos"/>
              </a:defRPr>
            </a:pPr>
            <a:r>
              <a:t>2.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36208" y="1225296"/>
            <a:ext cx="5394960" cy="41148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defRPr sz="900" b="0">
                <a:solidFill>
                  <a:srgbClr val="B7C2DE"/>
                </a:solidFill>
                <a:latin typeface="Aptos"/>
              </a:defRPr>
            </a:pPr>
            <a:r>
              <a:t>View saved portfolios, create new ones, edit details, preview a portfolio or delete it.</a:t>
            </a:r>
          </a:p>
        </p:txBody>
      </p:sp>
      <p:pic>
        <p:nvPicPr>
          <p:cNvPr id="8" name="Picture 7" descr="student-portfolio-builder-psi.vercel.app_ (2)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404" y="1691640"/>
            <a:ext cx="4341263" cy="4526280"/>
          </a:xfrm>
          <a:prstGeom prst="rect">
            <a:avLst/>
          </a:prstGeom>
        </p:spPr>
      </p:pic>
      <p:pic>
        <p:nvPicPr>
          <p:cNvPr id="9" name="Picture 8" descr="student-portfolio-builder-psi.vercel.app_ (1)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3709" y="1691640"/>
            <a:ext cx="4307080" cy="4526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291072"/>
            <a:ext cx="5303520" cy="201168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defRPr sz="900" b="1">
                <a:solidFill>
                  <a:srgbClr val="CAD1E8"/>
                </a:solidFill>
                <a:latin typeface="Aptos"/>
              </a:defRPr>
            </a:pPr>
            <a:r>
              <a:t>Portfolio editor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6291072"/>
            <a:ext cx="5303520" cy="201168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defRPr sz="900" b="1">
                <a:solidFill>
                  <a:srgbClr val="CAD1E8"/>
                </a:solidFill>
                <a:latin typeface="Aptos"/>
              </a:defRPr>
            </a:pPr>
            <a:r>
              <a:t>Portfolio dashboard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5486400" cy="22860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defRPr sz="1000" b="1">
                <a:solidFill>
                  <a:srgbClr val="68E0D6"/>
                </a:solidFill>
                <a:latin typeface="Aptos"/>
              </a:defRPr>
            </a:pPr>
            <a:r>
              <a:t>LIVE WEBSITE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41148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defRPr sz="2700" b="1">
                <a:solidFill>
                  <a:srgbClr val="F2F4FF"/>
                </a:solidFill>
                <a:latin typeface="Aptos"/>
              </a:defRPr>
            </a:pPr>
            <a:r>
              <a:t>Portfolio preview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4964564" cy="357021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defRPr sz="1100" b="0">
                <a:solidFill>
                  <a:srgbClr val="B7C2DE"/>
                </a:solidFill>
                <a:latin typeface="Aptos"/>
              </a:defRPr>
            </a:pPr>
            <a:r>
              <a:rPr dirty="0"/>
              <a:t>The preview turns saved information into a polished profile with skills, projects, </a:t>
            </a:r>
            <a:endParaRPr lang="en-IN" dirty="0" smtClean="0"/>
          </a:p>
          <a:p>
            <a:pPr>
              <a:defRPr sz="1100" b="0">
                <a:solidFill>
                  <a:srgbClr val="B7C2DE"/>
                </a:solidFill>
                <a:latin typeface="Aptos"/>
              </a:defRPr>
            </a:pPr>
            <a:r>
              <a:rPr dirty="0" smtClean="0"/>
              <a:t>education </a:t>
            </a:r>
            <a:r>
              <a:rPr dirty="0"/>
              <a:t>and contact links.</a:t>
            </a:r>
          </a:p>
        </p:txBody>
      </p:sp>
      <p:pic>
        <p:nvPicPr>
          <p:cNvPr id="5" name="Picture 4" descr="student-portfolio-builder-psi.vercel.app_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8052" y="1"/>
            <a:ext cx="6101698" cy="67685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" y="6327648"/>
            <a:ext cx="4114800" cy="22860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defRPr sz="1200" b="1">
                <a:solidFill>
                  <a:srgbClr val="68E0D6"/>
                </a:solidFill>
                <a:latin typeface="Aptos"/>
              </a:defRPr>
            </a:pPr>
            <a:r>
              <a:t>3. Preview and present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83680"/>
            <a:ext cx="10789920" cy="22860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defRPr sz="1000" b="0">
                <a:solidFill>
                  <a:srgbClr val="B7C2DE"/>
                </a:solidFill>
                <a:latin typeface="Aptos"/>
              </a:defRPr>
            </a:pPr>
            <a:r>
              <a:t>Students can review the portfolio before sharing it with faculty, recruiters or peers.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gradi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10789920" y="411480"/>
            <a:ext cx="502920" cy="502920"/>
          </a:xfrm>
          <a:prstGeom prst="ellipse">
            <a:avLst/>
          </a:prstGeom>
          <a:solidFill>
            <a:srgbClr val="44D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38560" y="5760720"/>
            <a:ext cx="201168" cy="201168"/>
          </a:xfrm>
          <a:prstGeom prst="ellipse">
            <a:avLst/>
          </a:prstGeom>
          <a:solidFill>
            <a:srgbClr val="FF7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320040" y="6080760"/>
            <a:ext cx="164592" cy="164592"/>
          </a:xfrm>
          <a:prstGeom prst="ellipse">
            <a:avLst/>
          </a:prstGeom>
          <a:solidFill>
            <a:srgbClr val="5C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80467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000" b="1">
                <a:solidFill>
                  <a:srgbClr val="44D5EB"/>
                </a:solidFill>
                <a:latin typeface="Aptos"/>
              </a:defRPr>
            </a:pPr>
            <a:r>
              <a:t>07 • PROJECT 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713232"/>
            <a:ext cx="10515600" cy="56692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2900" b="1">
                <a:solidFill>
                  <a:srgbClr val="F8F9FF"/>
                </a:solidFill>
                <a:latin typeface="Aptos"/>
              </a:defRPr>
            </a:pPr>
            <a:r>
              <a:t>Key Benefits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438912"/>
            <a:ext cx="5029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defRPr sz="1100" b="1">
                <a:solidFill>
                  <a:srgbClr val="CFD5F4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1353312"/>
            <a:ext cx="658368" cy="50292"/>
          </a:xfrm>
          <a:prstGeom prst="rect">
            <a:avLst/>
          </a:prstGeom>
          <a:solidFill>
            <a:srgbClr val="44D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58368" y="1828800"/>
            <a:ext cx="3401568" cy="1371600"/>
          </a:xfrm>
          <a:prstGeom prst="roundRect">
            <a:avLst/>
          </a:prstGeom>
          <a:solidFill>
            <a:srgbClr val="2F3070"/>
          </a:solidFill>
          <a:ln w="15240">
            <a:solidFill>
              <a:srgbClr val="61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41247" y="2029968"/>
            <a:ext cx="73152" cy="969264"/>
          </a:xfrm>
          <a:prstGeom prst="rect">
            <a:avLst/>
          </a:prstGeom>
          <a:solidFill>
            <a:srgbClr val="44D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42415" y="2029968"/>
            <a:ext cx="2816352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600" b="1">
                <a:solidFill>
                  <a:srgbClr val="F8F9FF"/>
                </a:solidFill>
                <a:latin typeface="Aptos"/>
              </a:defRPr>
            </a:pPr>
            <a:r>
              <a:t>Organized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5" y="2542032"/>
            <a:ext cx="2798064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200" b="0">
                <a:solidFill>
                  <a:srgbClr val="CFD5F4"/>
                </a:solidFill>
                <a:latin typeface="Aptos"/>
              </a:defRPr>
            </a:pPr>
            <a:r>
              <a:t>Keeps key student information together.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53128" y="1828800"/>
            <a:ext cx="3401568" cy="1371600"/>
          </a:xfrm>
          <a:prstGeom prst="roundRect">
            <a:avLst/>
          </a:prstGeom>
          <a:solidFill>
            <a:srgbClr val="2F3070"/>
          </a:solidFill>
          <a:ln w="15240">
            <a:solidFill>
              <a:srgbClr val="61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636008" y="2029968"/>
            <a:ext cx="73152" cy="969264"/>
          </a:xfrm>
          <a:prstGeom prst="rect">
            <a:avLst/>
          </a:prstGeom>
          <a:solidFill>
            <a:srgbClr val="FF7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37176" y="2029968"/>
            <a:ext cx="2816352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600" b="1">
                <a:solidFill>
                  <a:srgbClr val="F8F9FF"/>
                </a:solidFill>
                <a:latin typeface="Aptos"/>
              </a:defRPr>
            </a:pPr>
            <a:r>
              <a:t>Accessible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37176" y="2542032"/>
            <a:ext cx="2798064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200" b="0">
                <a:solidFill>
                  <a:srgbClr val="CFD5F4"/>
                </a:solidFill>
                <a:latin typeface="Aptos"/>
              </a:defRPr>
            </a:pPr>
            <a:r>
              <a:t>Can be opened in a browser through a shareable link.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47888" y="1828800"/>
            <a:ext cx="3401568" cy="1371600"/>
          </a:xfrm>
          <a:prstGeom prst="roundRect">
            <a:avLst/>
          </a:prstGeom>
          <a:solidFill>
            <a:srgbClr val="2F3070"/>
          </a:solidFill>
          <a:ln w="15240">
            <a:solidFill>
              <a:srgbClr val="61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430768" y="2029968"/>
            <a:ext cx="73152" cy="969264"/>
          </a:xfrm>
          <a:prstGeom prst="rect">
            <a:avLst/>
          </a:prstGeom>
          <a:solidFill>
            <a:srgbClr val="5C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31936" y="2029968"/>
            <a:ext cx="2816352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600" b="1">
                <a:solidFill>
                  <a:srgbClr val="F8F9FF"/>
                </a:solidFill>
                <a:latin typeface="Aptos"/>
              </a:defRPr>
            </a:pPr>
            <a:r>
              <a:t>Maintainable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31936" y="2542032"/>
            <a:ext cx="2798064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200" b="0">
                <a:solidFill>
                  <a:srgbClr val="CFD5F4"/>
                </a:solidFill>
                <a:latin typeface="Aptos"/>
              </a:defRPr>
            </a:pPr>
            <a:r>
              <a:t>Separates frontend, backend and database responsibilities.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566160"/>
            <a:ext cx="3401568" cy="1371600"/>
          </a:xfrm>
          <a:prstGeom prst="roundRect">
            <a:avLst/>
          </a:prstGeom>
          <a:solidFill>
            <a:srgbClr val="2F3070"/>
          </a:solidFill>
          <a:ln w="15240">
            <a:solidFill>
              <a:srgbClr val="61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41247" y="3767328"/>
            <a:ext cx="73152" cy="969264"/>
          </a:xfrm>
          <a:prstGeom prst="rect">
            <a:avLst/>
          </a:prstGeom>
          <a:solidFill>
            <a:srgbClr val="FFB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42415" y="3767328"/>
            <a:ext cx="2816352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600" b="1">
                <a:solidFill>
                  <a:srgbClr val="F8F9FF"/>
                </a:solidFill>
                <a:latin typeface="Aptos"/>
              </a:defRPr>
            </a:pPr>
            <a:r>
              <a:t>Practical learning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5" y="4279392"/>
            <a:ext cx="2798064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200" b="0">
                <a:solidFill>
                  <a:srgbClr val="CFD5F4"/>
                </a:solidFill>
                <a:latin typeface="Aptos"/>
              </a:defRPr>
            </a:pPr>
            <a:r>
              <a:t>Applies frontend, API, database and deployment concepts.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53128" y="3566160"/>
            <a:ext cx="3401568" cy="1371600"/>
          </a:xfrm>
          <a:prstGeom prst="roundRect">
            <a:avLst/>
          </a:prstGeom>
          <a:solidFill>
            <a:srgbClr val="2F3070"/>
          </a:solidFill>
          <a:ln w="15240">
            <a:solidFill>
              <a:srgbClr val="61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636008" y="3767328"/>
            <a:ext cx="73152" cy="969264"/>
          </a:xfrm>
          <a:prstGeom prst="rect">
            <a:avLst/>
          </a:prstGeom>
          <a:solidFill>
            <a:srgbClr val="AD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37176" y="3767328"/>
            <a:ext cx="2816352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600" b="1">
                <a:solidFill>
                  <a:srgbClr val="F8F9FF"/>
                </a:solidFill>
                <a:latin typeface="Aptos"/>
              </a:defRPr>
            </a:pPr>
            <a:r>
              <a:t>Expandable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37176" y="4279392"/>
            <a:ext cx="2798064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200" b="0">
                <a:solidFill>
                  <a:srgbClr val="CFD5F4"/>
                </a:solidFill>
                <a:latin typeface="Aptos"/>
              </a:defRPr>
            </a:pPr>
            <a:r>
              <a:t>Can be enhanced with more sections and design features.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669280"/>
            <a:ext cx="1042416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500" b="1">
                <a:solidFill>
                  <a:srgbClr val="44D5EB"/>
                </a:solidFill>
                <a:latin typeface="Aptos"/>
              </a:defRPr>
            </a:pPr>
            <a:r>
              <a:t>One organized profile • easier sharing • room to grow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gradi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10789920" y="411480"/>
            <a:ext cx="502920" cy="502920"/>
          </a:xfrm>
          <a:prstGeom prst="ellipse">
            <a:avLst/>
          </a:prstGeom>
          <a:solidFill>
            <a:srgbClr val="44D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38560" y="5760720"/>
            <a:ext cx="201168" cy="201168"/>
          </a:xfrm>
          <a:prstGeom prst="ellipse">
            <a:avLst/>
          </a:prstGeom>
          <a:solidFill>
            <a:srgbClr val="FF7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320040" y="6080760"/>
            <a:ext cx="164592" cy="164592"/>
          </a:xfrm>
          <a:prstGeom prst="ellipse">
            <a:avLst/>
          </a:prstGeom>
          <a:solidFill>
            <a:srgbClr val="5C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594360"/>
            <a:ext cx="1234440" cy="329184"/>
          </a:xfrm>
          <a:prstGeom prst="roundRect">
            <a:avLst/>
          </a:prstGeom>
          <a:solidFill>
            <a:srgbClr val="494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608076"/>
            <a:ext cx="1234440" cy="265176"/>
          </a:xfrm>
          <a:prstGeom prst="rect">
            <a:avLst/>
          </a:prstGeom>
          <a:noFill/>
        </p:spPr>
        <p:txBody>
          <a:bodyPr wrap="square" lIns="9144" tIns="18288" rIns="9144" bIns="18288">
            <a:spAutoFit/>
          </a:bodyPr>
          <a:lstStyle/>
          <a:p>
            <a:pPr algn="ctr">
              <a:defRPr sz="1000" b="1">
                <a:solidFill>
                  <a:srgbClr val="F8F9FF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234440"/>
            <a:ext cx="6583680" cy="10972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3100" b="1">
                <a:solidFill>
                  <a:srgbClr val="F8F9FF"/>
                </a:solidFill>
                <a:latin typeface="Aptos"/>
              </a:defRPr>
            </a:pPr>
            <a:r>
              <a:t>A simple way to present</a:t>
            </a:r>
            <a:br/>
            <a:r>
              <a:t>student achievements.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606040"/>
            <a:ext cx="5760720" cy="8229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400" b="0">
                <a:solidFill>
                  <a:srgbClr val="CFD5F4"/>
                </a:solidFill>
                <a:latin typeface="Aptos"/>
              </a:defRPr>
            </a:pPr>
            <a:r>
              <a:t>Student Portfolio Builder brings together a browser-based interface, backend API and cloud database storage in one full-stack project.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703320"/>
            <a:ext cx="530352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000" b="1">
                <a:solidFill>
                  <a:srgbClr val="44D5EB"/>
                </a:solidFill>
                <a:latin typeface="Aptos"/>
              </a:defRPr>
            </a:pPr>
            <a:r>
              <a:t>EXPLORE THE PROJECT</a:t>
            </a:r>
          </a:p>
        </p:txBody>
      </p:sp>
      <p:sp>
        <p:nvSpPr>
          <p:cNvPr id="11" name="Rounded Rectangle 10">
            <a:hlinkClick r:id="rId3"/>
          </p:cNvPr>
          <p:cNvSpPr/>
          <p:nvPr/>
        </p:nvSpPr>
        <p:spPr>
          <a:xfrm>
            <a:off x="713232" y="4160520"/>
            <a:ext cx="443484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2688" y="4343400"/>
            <a:ext cx="39319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100" b="1">
                <a:solidFill>
                  <a:srgbClr val="1D1F43"/>
                </a:solidFill>
                <a:latin typeface="Aptos"/>
              </a:defRPr>
            </a:pPr>
            <a:r>
              <a:t>↗  Live website  •  student-portfolio-builder-psi.vercel.app</a:t>
            </a:r>
          </a:p>
        </p:txBody>
      </p:sp>
      <p:sp>
        <p:nvSpPr>
          <p:cNvPr id="13" name="Rounded Rectangle 12">
            <a:hlinkClick r:id="rId4"/>
          </p:cNvPr>
          <p:cNvSpPr/>
          <p:nvPr/>
        </p:nvSpPr>
        <p:spPr>
          <a:xfrm>
            <a:off x="713232" y="4983480"/>
            <a:ext cx="443484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" y="5166360"/>
            <a:ext cx="39319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100" b="1">
                <a:solidFill>
                  <a:srgbClr val="1D1F43"/>
                </a:solidFill>
                <a:latin typeface="Aptos"/>
              </a:defRPr>
            </a:pPr>
            <a:r>
              <a:t>↗  GitHub  •  KyathiLahari/student-portfolio-builder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0" y="1508760"/>
            <a:ext cx="4114800" cy="3566160"/>
          </a:xfrm>
          <a:prstGeom prst="roundRect">
            <a:avLst/>
          </a:prstGeom>
          <a:solidFill>
            <a:srgbClr val="303270"/>
          </a:solidFill>
          <a:ln w="15240">
            <a:solidFill>
              <a:srgbClr val="5F6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0" y="2103120"/>
            <a:ext cx="3383280" cy="6400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2800" b="1">
                <a:solidFill>
                  <a:srgbClr val="F8F9FF"/>
                </a:solidFill>
                <a:latin typeface="Aptos"/>
              </a:defRPr>
            </a:pPr>
            <a:r>
              <a:t>Thank you!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2926080"/>
            <a:ext cx="338328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900" b="1">
                <a:solidFill>
                  <a:srgbClr val="44D5EB"/>
                </a:solidFill>
                <a:latin typeface="Aptos"/>
              </a:defRPr>
            </a:pPr>
            <a:r>
              <a:t>Questions?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3657600"/>
            <a:ext cx="3383280" cy="5486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200" b="0">
                <a:solidFill>
                  <a:srgbClr val="CFD5F4"/>
                </a:solidFill>
                <a:latin typeface="Aptos"/>
              </a:defRPr>
            </a:pPr>
            <a:r>
              <a:t>Student Portfolio Builder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263640"/>
            <a:ext cx="11430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defRPr sz="900" b="1">
                <a:solidFill>
                  <a:srgbClr val="CFD5F4"/>
                </a:solidFill>
                <a:latin typeface="Aptos"/>
              </a:defRPr>
            </a:pPr>
            <a:r>
              <a:t>09 / 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708</Words>
  <Application>Microsoft Office PowerPoint</Application>
  <PresentationFormat>Custom</PresentationFormat>
  <Paragraphs>148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Portfolio Builder — Interactive Redesign</dc:title>
  <dc:subject>FSD Mini-Project Presentation</dc:subject>
  <dc:creator>Student Portfolio Builder Team</dc:creator>
  <cp:keywords>student portfolio, React, Express, MongoDB, full-stack</cp:keywords>
  <dc:description>generated using python-pptx</dc:description>
  <cp:lastModifiedBy>ADMIN</cp:lastModifiedBy>
  <cp:revision>2</cp:revision>
  <dcterms:created xsi:type="dcterms:W3CDTF">2013-01-27T09:14:16Z</dcterms:created>
  <dcterms:modified xsi:type="dcterms:W3CDTF">2026-10-28T06:19:10Z</dcterms:modified>
  <cp:category/>
</cp:coreProperties>
</file>